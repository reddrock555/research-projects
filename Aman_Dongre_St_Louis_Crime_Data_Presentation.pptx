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8" r:id="rId3"/>
    <p:sldId id="266" r:id="rId4"/>
    <p:sldId id="263" r:id="rId5"/>
    <p:sldId id="270" r:id="rId6"/>
    <p:sldId id="269" r:id="rId7"/>
    <p:sldId id="259" r:id="rId8"/>
    <p:sldId id="267" r:id="rId9"/>
    <p:sldId id="258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785241-A77F-8F21-73D2-36415D8AA4F0}" v="28" dt="2023-04-11T18:18:09.0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2FDD7-7489-4CEE-9DFA-5098138E5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4FD5A-CFB5-451C-962D-5CB888967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65D0B-4529-44AE-A49F-040BEFB1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18D3D-93A0-4569-994E-E5FF739DF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0F691-C783-455C-BB54-9973DFAC2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06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095E-F79E-44F9-8007-44538BE6E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BCAE4-D725-456F-84F6-4B6183A89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52173-74BD-4A18-846E-DD24A75B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076DE-D484-491E-B0D1-9E8D97F05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E09CD-C3EF-4C94-AAE5-ADD9A56B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19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5962-5E2B-42A7-99B6-4AA91648E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1C46C-456E-42CD-8D9D-22F0E5143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B7FEA-5503-472C-A542-E882327D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779CA-9531-4E45-AD05-43C01D92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05EA3-ABD9-47C7-ACB4-DD2034C8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617E9-B501-4EEF-9621-F5B3077D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6CDBA-98E9-4249-B30B-43AEF986C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91557-8ECE-4455-8DF3-7151594F0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2F806-CCE9-47B2-AA5E-7EBD2D9AB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55942-BF48-4D77-9036-C9ABE7B7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75CD5-1681-4AC1-94A1-58DB6632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2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3C97-BAF5-44D4-A504-D79296929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E5D12-17E0-4AF1-A784-7FD7CCC8D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585FF-87FA-4224-B776-DCDFCC5B8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C9C3F-7286-4DC2-97F0-72CE4629B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384BC-4CC7-4839-B51A-3A692DEFA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142A8-E75A-4DC9-868B-DE098E03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DA2A1-4B6B-45E7-A975-6E1857B8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09F9C1-F3F0-47E6-8466-610D640E5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61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678D-5CEF-45B5-AF7D-E598383E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A00176-31E5-4167-AC23-C516A5C8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74950-7024-41A0-BF9B-E4CF07EE7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9AC5E-205A-4D96-A0BB-69E085C1F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88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D33E0-4026-4F50-BB81-EE81B64D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A7119-1038-4227-9442-F6B3F73C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6A244-FEB2-496B-8F61-EE008FFD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8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4132-E1B2-4223-9823-E17ABF9E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0263-A4E8-419C-A92E-9DC0BE05F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9A844-165C-41C8-8ADE-2A3F01660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97769-89F9-4298-BC7A-77F10A40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EAED8-1F95-4CFF-8C79-E0E12A25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A89AA-309A-4A45-879E-FA18A207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26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7D0D-EAD8-4941-869A-7E6DFA667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02104-553A-4A67-B066-BEDC661DC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7AAC8-3281-4C34-B952-7BF440DB2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66C73-EB9D-483D-91E2-B54B2206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6E569-F37B-4760-BD53-E97FD48A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BE439-CC36-42D7-89D7-6496A908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3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4C70-6AEF-45DD-820F-51B48A27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3C611-EEC4-41EA-BB1F-1634EF4CE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1D7C2-3B17-4C1E-B597-60E73F29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CB8BB-830B-4515-B1E7-10282EC6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CC1DA-E058-41A8-AF95-7171D557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6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CCAEE8-0792-49E2-9800-7246D35B4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7C07B-AE20-4F93-AB0A-6EEA9BA9F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6E3F5-71D8-4073-B635-1F68ADB1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E0E3D-E3E4-44CC-BDA9-FF676D53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F6BA6-06AD-4ED8-BD10-8D7EEF63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9632C-EBCD-459D-95C0-F9C9E6EC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03B81-F92B-4159-8158-0E813EA5A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AF0FF-A365-4B86-BF18-89007C955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0CAB5-104E-4B2C-92EA-FB33841ED9A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CCA8F-6644-4BD4-AE4F-8B69FE340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60A76-B3D1-4623-BB29-090C63049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B02E4-9231-4005-BE24-9E9A5CBA2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1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technofaq.org/posts/2014/08/how-to-prevent-your-car-from-being-stolen/" TargetMode="Externa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Freeform: Shape 7176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E19BE-75B8-9A4A-A2A8-FD559DAC8E31}"/>
              </a:ext>
            </a:extLst>
          </p:cNvPr>
          <p:cNvSpPr txBox="1"/>
          <p:nvPr/>
        </p:nvSpPr>
        <p:spPr>
          <a:xfrm>
            <a:off x="1137034" y="2194102"/>
            <a:ext cx="4438036" cy="3908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 louis crime rate regression on R</a:t>
            </a:r>
            <a:endParaRPr lang="en-US" sz="2000" b="1" dirty="0">
              <a:effectLst/>
            </a:endParaRPr>
          </a:p>
          <a:p>
            <a:pPr marL="0" marR="0" indent="-22860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</a:rPr>
              <a:t>Aman, Brandon</a:t>
            </a:r>
            <a:endParaRPr lang="en-US" sz="2000" b="1" dirty="0"/>
          </a:p>
          <a:p>
            <a:pPr marL="0" marR="0" indent="-22860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170" name="Picture 2" descr="Applied Statistical Procedures: Online | Online | ACSPRI Courses | ACSPRI">
            <a:extLst>
              <a:ext uri="{FF2B5EF4-FFF2-40B4-BE49-F238E27FC236}">
                <a16:creationId xmlns:a16="http://schemas.microsoft.com/office/drawing/2014/main" id="{1641EE38-18B2-DB45-91B9-4E90712CC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0610" y="1931141"/>
            <a:ext cx="4737650" cy="301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35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4D2C-B1FE-48E5-B25D-C2A881692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495"/>
            <a:ext cx="10515600" cy="495774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Our First Approach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81C959-7C07-4AC2-8DA8-064F297C6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04" y="1635780"/>
            <a:ext cx="2619375" cy="1743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2D8F2E-7197-4D86-9206-660D9A65A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780" y="2659236"/>
            <a:ext cx="2466975" cy="1847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08E7BD-1683-4C47-8A6D-C626306DA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799" y="116488"/>
            <a:ext cx="2029961" cy="1136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E1375E-C6D5-41F0-A9BD-967A22AA0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4" y="3761369"/>
            <a:ext cx="2619374" cy="218281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A7BE036B-D793-4EEF-AD39-8B2EC54A2594}"/>
              </a:ext>
            </a:extLst>
          </p:cNvPr>
          <p:cNvSpPr/>
          <p:nvPr/>
        </p:nvSpPr>
        <p:spPr>
          <a:xfrm>
            <a:off x="2685078" y="3462556"/>
            <a:ext cx="533925" cy="24537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78E17E-987B-4789-BB63-6604CAB045E9}"/>
              </a:ext>
            </a:extLst>
          </p:cNvPr>
          <p:cNvSpPr txBox="1"/>
          <p:nvPr/>
        </p:nvSpPr>
        <p:spPr>
          <a:xfrm>
            <a:off x="5964083" y="1346556"/>
            <a:ext cx="45384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Unfortunately, This approach failed to materialize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Surprisingly, The low R-Square and Adjusted R-Square had</a:t>
            </a:r>
          </a:p>
          <a:p>
            <a:r>
              <a:rPr lang="en-US" dirty="0"/>
              <a:t>     Negative correlation.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C28DF5-2EAB-447F-A99D-EB07F6772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3281" y="3106944"/>
            <a:ext cx="3414730" cy="32551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9EB42DD-3673-4A15-9B07-D96E8CCBD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3958" y="2526077"/>
            <a:ext cx="3049640" cy="211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6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29CC69-24BE-5D4E-AABD-9075A0D85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4200"/>
              <a:t>What Crimes Have Greatest Influence in Crime Rating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B2E09-1434-764C-8D68-60CDC4865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2400" dirty="0"/>
              <a:t>From the National Incident Based Reporting System (NIBRS) we pulled all crime data for Saint louis City</a:t>
            </a:r>
          </a:p>
          <a:p>
            <a:r>
              <a:rPr lang="en-US" sz="2400" dirty="0"/>
              <a:t>Specifically which crimes have the most influence on overall crime rate.  </a:t>
            </a:r>
          </a:p>
          <a:p>
            <a:r>
              <a:rPr lang="en-US" sz="2400" dirty="0"/>
              <a:t>Crime Rate in STL City</a:t>
            </a:r>
          </a:p>
          <a:p>
            <a:pPr lvl="1"/>
            <a:r>
              <a:rPr lang="en-US" dirty="0"/>
              <a:t>Determined by the total crimes compared to population 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6BCA2-4310-4B9A-BBC5-B7E6ED8DE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48" y="1816085"/>
            <a:ext cx="4723266" cy="297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2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BCFB-EECC-5A42-8F20-90F1AACF8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Comparing the Median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7DC4-1C39-7241-A3A9-2776CD86B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721" y="1885260"/>
            <a:ext cx="5181600" cy="13255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>
                <a:ea typeface="Yu Gothic"/>
                <a:cs typeface="Times New Roman"/>
              </a:rPr>
              <a:t>Following</a:t>
            </a:r>
            <a:r>
              <a:rPr lang="en-US" sz="2000" dirty="0">
                <a:effectLst/>
                <a:ea typeface="Yu Gothic"/>
                <a:cs typeface="Times New Roman"/>
              </a:rPr>
              <a:t> graph which is for box and whisker we can determine that the median values for assault, motor vehicle theft and destruction of property are 316.5, </a:t>
            </a:r>
            <a:r>
              <a:rPr lang="en-US" sz="2000" dirty="0">
                <a:ea typeface="Yu Gothic"/>
                <a:cs typeface="Times New Roman"/>
              </a:rPr>
              <a:t>332.5 and 736</a:t>
            </a:r>
            <a:r>
              <a:rPr lang="en-US" sz="2000" dirty="0">
                <a:effectLst/>
                <a:ea typeface="Yu Gothic"/>
                <a:cs typeface="Times New Roman"/>
              </a:rPr>
              <a:t> respectively.</a:t>
            </a:r>
          </a:p>
          <a:p>
            <a:endParaRPr lang="en-US" dirty="0"/>
          </a:p>
          <a:p>
            <a:endParaRPr lang="en-US" dirty="0">
              <a:cs typeface="Calibri" panose="020F0502020204030204"/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D90B0693-A7E1-8E45-97F0-E61D885050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62662" y="1815549"/>
            <a:ext cx="6437697" cy="373416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E330FF-BB0E-100D-B6DC-569B73151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473626"/>
              </p:ext>
            </p:extLst>
          </p:nvPr>
        </p:nvGraphicFramePr>
        <p:xfrm>
          <a:off x="212912" y="3406588"/>
          <a:ext cx="5036659" cy="2417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226">
                  <a:extLst>
                    <a:ext uri="{9D8B030D-6E8A-4147-A177-3AD203B41FA5}">
                      <a16:colId xmlns:a16="http://schemas.microsoft.com/office/drawing/2014/main" val="1431593821"/>
                    </a:ext>
                  </a:extLst>
                </a:gridCol>
                <a:gridCol w="1540061">
                  <a:extLst>
                    <a:ext uri="{9D8B030D-6E8A-4147-A177-3AD203B41FA5}">
                      <a16:colId xmlns:a16="http://schemas.microsoft.com/office/drawing/2014/main" val="1509868919"/>
                    </a:ext>
                  </a:extLst>
                </a:gridCol>
                <a:gridCol w="1335466">
                  <a:extLst>
                    <a:ext uri="{9D8B030D-6E8A-4147-A177-3AD203B41FA5}">
                      <a16:colId xmlns:a16="http://schemas.microsoft.com/office/drawing/2014/main" val="2328364256"/>
                    </a:ext>
                  </a:extLst>
                </a:gridCol>
                <a:gridCol w="1205906">
                  <a:extLst>
                    <a:ext uri="{9D8B030D-6E8A-4147-A177-3AD203B41FA5}">
                      <a16:colId xmlns:a16="http://schemas.microsoft.com/office/drawing/2014/main" val="666949427"/>
                    </a:ext>
                  </a:extLst>
                </a:gridCol>
              </a:tblGrid>
              <a:tr h="70237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>
                          <a:effectLst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Assault 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MVT​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DOP​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3579300"/>
                  </a:ext>
                </a:extLst>
              </a:tr>
              <a:tr h="88204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Mean​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328.833333​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325.75​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700.0833​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5935761"/>
                  </a:ext>
                </a:extLst>
              </a:tr>
              <a:tr h="833048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Median​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316.5​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332.5​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>
                          <a:effectLst/>
                        </a:rPr>
                        <a:t>736​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4667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824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E8BFAB7-0D46-BE49-8D7E-F51B0876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69" y="-2449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 Regression Analysis for </a:t>
            </a:r>
            <a:r>
              <a:rPr lang="en-US" sz="3600" dirty="0" err="1"/>
              <a:t>DoP</a:t>
            </a:r>
            <a:r>
              <a:rPr lang="en-US" sz="3600" dirty="0"/>
              <a:t> on Crime Rate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59CAB2-DE5D-4DB1-936D-0FF711D20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96" y="968955"/>
            <a:ext cx="6022501" cy="31666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FA73A95-B60E-154A-8D05-618011E9FD5E}"/>
              </a:ext>
            </a:extLst>
          </p:cNvPr>
          <p:cNvSpPr txBox="1"/>
          <p:nvPr/>
        </p:nvSpPr>
        <p:spPr>
          <a:xfrm>
            <a:off x="269269" y="5298601"/>
            <a:ext cx="11496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From our regression analysis in R to determine the relationship between destruction of property and the crime rate and what we observed here from the R square that 77% of the data can be explained from this model and the p-value is &lt;0.05 therefore we can confirm there is a linear relationship. 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884246-64BD-46B0-8447-5E12BBE17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24" y="1059976"/>
            <a:ext cx="519112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00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E8BFAB7-0D46-BE49-8D7E-F51B0876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33" y="178944"/>
            <a:ext cx="10515600" cy="790012"/>
          </a:xfrm>
        </p:spPr>
        <p:txBody>
          <a:bodyPr>
            <a:normAutofit/>
          </a:bodyPr>
          <a:lstStyle/>
          <a:p>
            <a:r>
              <a:rPr lang="en-US" sz="3600" dirty="0"/>
              <a:t>R Regression Analysis for Assault on Crime Rate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59CAB2-DE5D-4DB1-936D-0FF711D20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96" y="968955"/>
            <a:ext cx="6022501" cy="31666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FA73A95-B60E-154A-8D05-618011E9FD5E}"/>
              </a:ext>
            </a:extLst>
          </p:cNvPr>
          <p:cNvSpPr txBox="1"/>
          <p:nvPr/>
        </p:nvSpPr>
        <p:spPr>
          <a:xfrm>
            <a:off x="335933" y="5478727"/>
            <a:ext cx="11496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From our regression analysis in R to determine the relationship between assault on the crime rate and what we observed here from the R square that 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63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% of the data can be explained from this model and the p-value is &lt;0.05 therefore we can confirm there is also a linear relationship.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475387-294C-4BE3-AB0C-7719D1889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84" y="1314484"/>
            <a:ext cx="4229056" cy="406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55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03CBE-A7E5-7B4D-B537-A8E8DB39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73" y="18255"/>
            <a:ext cx="10515600" cy="1325563"/>
          </a:xfrm>
        </p:spPr>
        <p:txBody>
          <a:bodyPr/>
          <a:lstStyle/>
          <a:p>
            <a:r>
              <a:rPr lang="en-US" dirty="0"/>
              <a:t>Destruction Of Property (</a:t>
            </a:r>
            <a:r>
              <a:rPr lang="en-US" dirty="0" err="1"/>
              <a:t>DoP</a:t>
            </a:r>
            <a:r>
              <a:rPr lang="en-US" dirty="0"/>
              <a:t>) on Crime Rate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914D54-5808-D242-AAB0-FDA32F47B7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42484" y="1343818"/>
            <a:ext cx="5187271" cy="2450429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3AC44EC4-66BF-C244-BFEA-AF0408EE0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665" y="1343818"/>
            <a:ext cx="5528474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 plot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dfrate$CRIMERATE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dfrate$DOP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main="Regress DOP on CRIMERATE",+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xlab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="DOP",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ylab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="CRIMERATE 000s", frame=FALSE)&gt;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abline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lmrate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col="blue")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301033-D534-F14C-A9F0-61279CAEA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247" y="2312038"/>
            <a:ext cx="4772916" cy="3402444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C4B326A-0350-5940-BED3-0807D7BAB2E9}"/>
              </a:ext>
            </a:extLst>
          </p:cNvPr>
          <p:cNvSpPr txBox="1"/>
          <p:nvPr/>
        </p:nvSpPr>
        <p:spPr>
          <a:xfrm>
            <a:off x="524107" y="4148254"/>
            <a:ext cx="5218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this Scatter Plot we can see a positive correlation between </a:t>
            </a:r>
            <a:r>
              <a:rPr lang="en-US" dirty="0" err="1"/>
              <a:t>DoP</a:t>
            </a:r>
            <a:r>
              <a:rPr lang="en-US" dirty="0"/>
              <a:t> and the overall Crime Rate. </a:t>
            </a:r>
          </a:p>
        </p:txBody>
      </p:sp>
    </p:spTree>
    <p:extLst>
      <p:ext uri="{BB962C8B-B14F-4D97-AF65-F5344CB8AC3E}">
        <p14:creationId xmlns:p14="http://schemas.microsoft.com/office/powerpoint/2010/main" val="2201582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Freeform: Shape 512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43FFA-B8C1-944E-96D4-45AFDB07E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marR="0" indent="457200">
              <a:spcBef>
                <a:spcPts val="0"/>
              </a:spcBef>
              <a:spcAft>
                <a:spcPts val="800"/>
              </a:spcAft>
            </a:pP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For our hypothesis we used mean of assault as 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  <a:sym typeface="Symbol" pitchFamily="2" charset="2"/>
              </a:rPr>
              <a:t>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1, motor Vehicle Theft is 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  <a:sym typeface="Symbol" pitchFamily="2" charset="2"/>
              </a:rPr>
              <a:t>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2, and the mean of Destruction if Property is 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  <a:sym typeface="Symbol" pitchFamily="2" charset="2"/>
              </a:rPr>
              <a:t>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3. As we can see that 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  <a:sym typeface="Symbol" pitchFamily="2" charset="2"/>
              </a:rPr>
              <a:t>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3 is greater than 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  <a:sym typeface="Symbol" pitchFamily="2" charset="2"/>
              </a:rPr>
              <a:t>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2 and u1 and it affects the crime rate the most among these variables which we can see in the R console regression. Thus, we are checking whether 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  <a:sym typeface="Symbol" pitchFamily="2" charset="2"/>
              </a:rPr>
              <a:t>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1is greater than 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  <a:sym typeface="Symbol" pitchFamily="2" charset="2"/>
              </a:rPr>
              <a:t></a:t>
            </a:r>
            <a:r>
              <a:rPr lang="en-US" sz="2000">
                <a:effectLst/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2 i.e., which contributes more to the crime rate. </a:t>
            </a:r>
            <a:endParaRPr lang="en-US" sz="20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Difference Between Null and Alternative Hypothesis (with Comparison Chart)  - Key Differences">
            <a:extLst>
              <a:ext uri="{FF2B5EF4-FFF2-40B4-BE49-F238E27FC236}">
                <a16:creationId xmlns:a16="http://schemas.microsoft.com/office/drawing/2014/main" id="{9CC6E4B6-17DC-D34F-BEC6-498E158A4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49747" y="2405457"/>
            <a:ext cx="4788505" cy="204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Freeform: Shape 5130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00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2472DE8-E58B-4D56-BA61-C69C601D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0183ACFC-B25E-402F-BBD8-E42034CDD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76818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2192000" h="2237474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lnTo>
                  <a:pt x="12176759" y="759190"/>
                </a:lnTo>
                <a:cubicBezTo>
                  <a:pt x="12165968" y="763819"/>
                  <a:pt x="12157853" y="765770"/>
                  <a:pt x="12154948" y="762731"/>
                </a:cubicBezTo>
                <a:cubicBezTo>
                  <a:pt x="12116503" y="759396"/>
                  <a:pt x="12073342" y="763579"/>
                  <a:pt x="12047364" y="749662"/>
                </a:cubicBezTo>
                <a:cubicBezTo>
                  <a:pt x="12041261" y="730599"/>
                  <a:pt x="11914319" y="741909"/>
                  <a:pt x="11890686" y="732766"/>
                </a:cubicBezTo>
                <a:cubicBezTo>
                  <a:pt x="11832408" y="747890"/>
                  <a:pt x="11815359" y="777569"/>
                  <a:pt x="11782413" y="769868"/>
                </a:cubicBezTo>
                <a:cubicBezTo>
                  <a:pt x="11760031" y="763594"/>
                  <a:pt x="11675205" y="777151"/>
                  <a:pt x="11649954" y="749628"/>
                </a:cubicBezTo>
                <a:cubicBezTo>
                  <a:pt x="11608286" y="767874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256313" y="713012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1036836" y="722990"/>
                  <a:pt x="10909903" y="759211"/>
                  <a:pt x="10884013" y="760728"/>
                </a:cubicBezTo>
                <a:cubicBezTo>
                  <a:pt x="10864519" y="743356"/>
                  <a:pt x="10853492" y="756172"/>
                  <a:pt x="10834688" y="757726"/>
                </a:cubicBezTo>
                <a:cubicBezTo>
                  <a:pt x="10826871" y="747343"/>
                  <a:pt x="10811086" y="746602"/>
                  <a:pt x="10805004" y="757573"/>
                </a:cubicBezTo>
                <a:cubicBezTo>
                  <a:pt x="10810951" y="784448"/>
                  <a:pt x="10744688" y="759043"/>
                  <a:pt x="10739478" y="776841"/>
                </a:cubicBezTo>
                <a:cubicBezTo>
                  <a:pt x="10678284" y="779408"/>
                  <a:pt x="10540854" y="756546"/>
                  <a:pt x="10458762" y="755400"/>
                </a:cubicBezTo>
                <a:cubicBezTo>
                  <a:pt x="10426976" y="747433"/>
                  <a:pt x="10362961" y="776166"/>
                  <a:pt x="10246919" y="769960"/>
                </a:cubicBezTo>
                <a:cubicBezTo>
                  <a:pt x="10231631" y="763610"/>
                  <a:pt x="10172943" y="749095"/>
                  <a:pt x="10167995" y="760843"/>
                </a:cubicBezTo>
                <a:cubicBezTo>
                  <a:pt x="10131971" y="759999"/>
                  <a:pt x="10021683" y="796978"/>
                  <a:pt x="9997044" y="780129"/>
                </a:cubicBezTo>
                <a:cubicBezTo>
                  <a:pt x="10001018" y="806225"/>
                  <a:pt x="9951331" y="779975"/>
                  <a:pt x="9943887" y="804141"/>
                </a:cubicBezTo>
                <a:lnTo>
                  <a:pt x="9918248" y="816628"/>
                </a:lnTo>
                <a:lnTo>
                  <a:pt x="9836148" y="858312"/>
                </a:lnTo>
                <a:lnTo>
                  <a:pt x="9823800" y="866604"/>
                </a:lnTo>
                <a:lnTo>
                  <a:pt x="9794684" y="864509"/>
                </a:lnTo>
                <a:lnTo>
                  <a:pt x="9778288" y="854362"/>
                </a:lnTo>
                <a:lnTo>
                  <a:pt x="9773886" y="857543"/>
                </a:lnTo>
                <a:cubicBezTo>
                  <a:pt x="9769008" y="863842"/>
                  <a:pt x="9766501" y="867741"/>
                  <a:pt x="9761459" y="862394"/>
                </a:cubicBezTo>
                <a:lnTo>
                  <a:pt x="9705768" y="894610"/>
                </a:lnTo>
                <a:cubicBezTo>
                  <a:pt x="9699860" y="897215"/>
                  <a:pt x="9692576" y="897590"/>
                  <a:pt x="9683005" y="894128"/>
                </a:cubicBezTo>
                <a:cubicBezTo>
                  <a:pt x="9664449" y="898200"/>
                  <a:pt x="9612100" y="914263"/>
                  <a:pt x="9594438" y="919051"/>
                </a:cubicBezTo>
                <a:lnTo>
                  <a:pt x="9577033" y="922857"/>
                </a:lnTo>
                <a:cubicBezTo>
                  <a:pt x="9568659" y="926175"/>
                  <a:pt x="9551353" y="936082"/>
                  <a:pt x="9544189" y="938966"/>
                </a:cubicBezTo>
                <a:cubicBezTo>
                  <a:pt x="9538380" y="940584"/>
                  <a:pt x="9541329" y="937538"/>
                  <a:pt x="9534048" y="940158"/>
                </a:cubicBezTo>
                <a:cubicBezTo>
                  <a:pt x="9533709" y="946069"/>
                  <a:pt x="9530854" y="951684"/>
                  <a:pt x="9500499" y="954680"/>
                </a:cubicBezTo>
                <a:cubicBezTo>
                  <a:pt x="9481230" y="968165"/>
                  <a:pt x="9456325" y="979029"/>
                  <a:pt x="9428195" y="986225"/>
                </a:cubicBezTo>
                <a:cubicBezTo>
                  <a:pt x="9422499" y="981315"/>
                  <a:pt x="9414660" y="991352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10581" y="1024474"/>
                  <a:pt x="9345163" y="981210"/>
                  <a:pt x="9301293" y="1011593"/>
                </a:cubicBezTo>
                <a:cubicBezTo>
                  <a:pt x="9292916" y="1014346"/>
                  <a:pt x="9285483" y="1013807"/>
                  <a:pt x="9278619" y="1011878"/>
                </a:cubicBezTo>
                <a:lnTo>
                  <a:pt x="9268019" y="1007442"/>
                </a:lnTo>
                <a:lnTo>
                  <a:pt x="9234662" y="1023056"/>
                </a:lnTo>
                <a:cubicBezTo>
                  <a:pt x="9217868" y="1029197"/>
                  <a:pt x="9199852" y="1034202"/>
                  <a:pt x="9181033" y="1037921"/>
                </a:cubicBezTo>
                <a:cubicBezTo>
                  <a:pt x="9174974" y="1030923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021681" y="1079910"/>
                  <a:pt x="9076377" y="1024799"/>
                  <a:pt x="9012987" y="1061986"/>
                </a:cubicBezTo>
                <a:lnTo>
                  <a:pt x="8968445" y="1052169"/>
                </a:lnTo>
                <a:lnTo>
                  <a:pt x="8958984" y="1057212"/>
                </a:lnTo>
                <a:cubicBezTo>
                  <a:pt x="8920115" y="1062770"/>
                  <a:pt x="8906181" y="1053838"/>
                  <a:pt x="8886001" y="1067468"/>
                </a:cubicBezTo>
                <a:cubicBezTo>
                  <a:pt x="8847384" y="1050046"/>
                  <a:pt x="8863283" y="1068286"/>
                  <a:pt x="8838610" y="1075091"/>
                </a:cubicBezTo>
                <a:cubicBezTo>
                  <a:pt x="8816007" y="1080079"/>
                  <a:pt x="8773923" y="1092257"/>
                  <a:pt x="8750383" y="1097387"/>
                </a:cubicBezTo>
                <a:cubicBezTo>
                  <a:pt x="8735450" y="1116502"/>
                  <a:pt x="8721220" y="1097372"/>
                  <a:pt x="8697365" y="1105869"/>
                </a:cubicBezTo>
                <a:cubicBezTo>
                  <a:pt x="8687037" y="1113735"/>
                  <a:pt x="8678781" y="1115961"/>
                  <a:pt x="8665605" y="1110791"/>
                </a:cubicBezTo>
                <a:cubicBezTo>
                  <a:pt x="8618410" y="1148662"/>
                  <a:pt x="8633049" y="1116609"/>
                  <a:pt x="8584946" y="1135226"/>
                </a:cubicBezTo>
                <a:cubicBezTo>
                  <a:pt x="8544020" y="1153499"/>
                  <a:pt x="8496232" y="1168229"/>
                  <a:pt x="8460755" y="1203427"/>
                </a:cubicBezTo>
                <a:cubicBezTo>
                  <a:pt x="8454928" y="1212828"/>
                  <a:pt x="8436573" y="1218574"/>
                  <a:pt x="8419755" y="1216260"/>
                </a:cubicBezTo>
                <a:cubicBezTo>
                  <a:pt x="8416861" y="1215863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253233" y="1266996"/>
                  <a:pt x="8218383" y="1257577"/>
                  <a:pt x="8206287" y="1273060"/>
                </a:cubicBezTo>
                <a:cubicBezTo>
                  <a:pt x="8200396" y="1262794"/>
                  <a:pt x="8183827" y="1285000"/>
                  <a:pt x="8168705" y="1279956"/>
                </a:cubicBezTo>
                <a:cubicBezTo>
                  <a:pt x="8157611" y="1275235"/>
                  <a:pt x="8149996" y="1280870"/>
                  <a:pt x="8139997" y="1282713"/>
                </a:cubicBezTo>
                <a:cubicBezTo>
                  <a:pt x="8125566" y="1279776"/>
                  <a:pt x="8084128" y="1294221"/>
                  <a:pt x="8074238" y="1301895"/>
                </a:cubicBezTo>
                <a:cubicBezTo>
                  <a:pt x="8052170" y="1326903"/>
                  <a:pt x="7986951" y="1319381"/>
                  <a:pt x="7968292" y="1338779"/>
                </a:cubicBezTo>
                <a:cubicBezTo>
                  <a:pt x="7960694" y="1342282"/>
                  <a:pt x="7952937" y="1344333"/>
                  <a:pt x="7945122" y="1345477"/>
                </a:cubicBezTo>
                <a:lnTo>
                  <a:pt x="7922771" y="1346645"/>
                </a:lnTo>
                <a:lnTo>
                  <a:pt x="7915461" y="1342919"/>
                </a:lnTo>
                <a:lnTo>
                  <a:pt x="7902328" y="1345865"/>
                </a:lnTo>
                <a:lnTo>
                  <a:pt x="7898322" y="1345689"/>
                </a:lnTo>
                <a:lnTo>
                  <a:pt x="7875879" y="1345646"/>
                </a:lnTo>
                <a:cubicBezTo>
                  <a:pt x="7890672" y="1367295"/>
                  <a:pt x="7816428" y="1353520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87405" y="1382806"/>
                  <a:pt x="7548172" y="1417460"/>
                </a:cubicBezTo>
                <a:cubicBezTo>
                  <a:pt x="7551327" y="1405830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213486" y="1580987"/>
                </a:lnTo>
                <a:lnTo>
                  <a:pt x="7210972" y="1580856"/>
                </a:lnTo>
                <a:lnTo>
                  <a:pt x="7183121" y="1595162"/>
                </a:lnTo>
                <a:lnTo>
                  <a:pt x="7164601" y="1606490"/>
                </a:lnTo>
                <a:lnTo>
                  <a:pt x="7159286" y="1606850"/>
                </a:lnTo>
                <a:cubicBezTo>
                  <a:pt x="7150961" y="1609262"/>
                  <a:pt x="7125743" y="1618162"/>
                  <a:pt x="7114651" y="1620959"/>
                </a:cubicBezTo>
                <a:cubicBezTo>
                  <a:pt x="7109310" y="1606138"/>
                  <a:pt x="7106695" y="1617324"/>
                  <a:pt x="7092727" y="1623628"/>
                </a:cubicBezTo>
                <a:cubicBezTo>
                  <a:pt x="7081313" y="1602012"/>
                  <a:pt x="7049394" y="1627301"/>
                  <a:pt x="7031309" y="1619451"/>
                </a:cubicBezTo>
                <a:cubicBezTo>
                  <a:pt x="7021305" y="1624569"/>
                  <a:pt x="7010515" y="1629587"/>
                  <a:pt x="6999084" y="1634317"/>
                </a:cubicBezTo>
                <a:lnTo>
                  <a:pt x="6992107" y="1636860"/>
                </a:lnTo>
                <a:lnTo>
                  <a:pt x="6991765" y="1636725"/>
                </a:lnTo>
                <a:cubicBezTo>
                  <a:pt x="6989813" y="1636884"/>
                  <a:pt x="6987353" y="1637572"/>
                  <a:pt x="6983996" y="1639040"/>
                </a:cubicBezTo>
                <a:lnTo>
                  <a:pt x="6979383" y="1641496"/>
                </a:lnTo>
                <a:lnTo>
                  <a:pt x="6900177" y="1636016"/>
                </a:ln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19334" y="1664040"/>
                  <a:pt x="6608179" y="1654034"/>
                  <a:pt x="6587857" y="1665769"/>
                </a:cubicBezTo>
                <a:lnTo>
                  <a:pt x="6554894" y="1664428"/>
                </a:lnTo>
                <a:lnTo>
                  <a:pt x="6551579" y="1662213"/>
                </a:lnTo>
                <a:lnTo>
                  <a:pt x="6545693" y="1661776"/>
                </a:lnTo>
                <a:lnTo>
                  <a:pt x="6530561" y="1664619"/>
                </a:lnTo>
                <a:lnTo>
                  <a:pt x="6525028" y="1666354"/>
                </a:lnTo>
                <a:cubicBezTo>
                  <a:pt x="6521154" y="1667301"/>
                  <a:pt x="6518510" y="1667613"/>
                  <a:pt x="6516595" y="1667475"/>
                </a:cubicBezTo>
                <a:lnTo>
                  <a:pt x="6516340" y="1667291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57809" y="1668164"/>
                  <a:pt x="6415506" y="1688334"/>
                  <a:pt x="6415265" y="1665317"/>
                </a:cubicBezTo>
                <a:cubicBezTo>
                  <a:pt x="6399063" y="1669446"/>
                  <a:pt x="6391173" y="1680085"/>
                  <a:pt x="6393343" y="1664672"/>
                </a:cubicBezTo>
                <a:lnTo>
                  <a:pt x="6380457" y="1662376"/>
                </a:lnTo>
                <a:lnTo>
                  <a:pt x="6280959" y="1689329"/>
                </a:lnTo>
                <a:lnTo>
                  <a:pt x="6266765" y="1695560"/>
                </a:lnTo>
                <a:cubicBezTo>
                  <a:pt x="6262331" y="1698152"/>
                  <a:pt x="6258580" y="1701192"/>
                  <a:pt x="6255823" y="1704850"/>
                </a:cubicBezTo>
                <a:cubicBezTo>
                  <a:pt x="6200184" y="1694834"/>
                  <a:pt x="6155082" y="1716996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99949" y="1814490"/>
                </a:lnTo>
                <a:lnTo>
                  <a:pt x="5453307" y="1815450"/>
                </a:lnTo>
                <a:cubicBezTo>
                  <a:pt x="5433075" y="1827706"/>
                  <a:pt x="5395563" y="1821122"/>
                  <a:pt x="5364192" y="1826074"/>
                </a:cubicBezTo>
                <a:lnTo>
                  <a:pt x="5350380" y="1830891"/>
                </a:lnTo>
                <a:lnTo>
                  <a:pt x="5259633" y="1837160"/>
                </a:lnTo>
                <a:lnTo>
                  <a:pt x="5197513" y="1844718"/>
                </a:lnTo>
                <a:lnTo>
                  <a:pt x="5184170" y="1849402"/>
                </a:lnTo>
                <a:lnTo>
                  <a:pt x="5168852" y="1844846"/>
                </a:lnTo>
                <a:cubicBezTo>
                  <a:pt x="5166986" y="1843561"/>
                  <a:pt x="5165478" y="1842127"/>
                  <a:pt x="5164370" y="1840597"/>
                </a:cubicBezTo>
                <a:lnTo>
                  <a:pt x="5114927" y="1847827"/>
                </a:ln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63743" y="1799478"/>
                  <a:pt x="4655044" y="1795479"/>
                  <a:pt x="4647449" y="1793181"/>
                </a:cubicBezTo>
                <a:lnTo>
                  <a:pt x="4645504" y="1787606"/>
                </a:lnTo>
                <a:lnTo>
                  <a:pt x="4632229" y="1785815"/>
                </a:lnTo>
                <a:lnTo>
                  <a:pt x="4629273" y="1784355"/>
                </a:lnTo>
                <a:cubicBezTo>
                  <a:pt x="4623639" y="1781544"/>
                  <a:pt x="4617950" y="1778917"/>
                  <a:pt x="4611738" y="1776964"/>
                </a:cubicBezTo>
                <a:cubicBezTo>
                  <a:pt x="4601379" y="1800272"/>
                  <a:pt x="4557197" y="1764196"/>
                  <a:pt x="4560070" y="1785640"/>
                </a:cubicBezTo>
                <a:lnTo>
                  <a:pt x="4536503" y="1785334"/>
                </a:lnTo>
                <a:lnTo>
                  <a:pt x="4513724" y="1791996"/>
                </a:lnTo>
                <a:lnTo>
                  <a:pt x="4501513" y="1799835"/>
                </a:lnTo>
                <a:lnTo>
                  <a:pt x="4459076" y="1813003"/>
                </a:lnTo>
                <a:lnTo>
                  <a:pt x="4459810" y="1797886"/>
                </a:lnTo>
                <a:lnTo>
                  <a:pt x="4379064" y="1817177"/>
                </a:lnTo>
                <a:lnTo>
                  <a:pt x="4319209" y="1834833"/>
                </a:lnTo>
                <a:lnTo>
                  <a:pt x="4306907" y="1841641"/>
                </a:lnTo>
                <a:lnTo>
                  <a:pt x="4290981" y="1839677"/>
                </a:lnTo>
                <a:cubicBezTo>
                  <a:pt x="4288909" y="1838717"/>
                  <a:pt x="4287163" y="1837555"/>
                  <a:pt x="4285792" y="1836231"/>
                </a:cubicBezTo>
                <a:lnTo>
                  <a:pt x="4238372" y="1851480"/>
                </a:ln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84875" y="1878116"/>
                  <a:pt x="3775574" y="1875612"/>
                  <a:pt x="3767672" y="1874600"/>
                </a:cubicBezTo>
                <a:lnTo>
                  <a:pt x="3764741" y="1869433"/>
                </a:lnTo>
                <a:lnTo>
                  <a:pt x="3751332" y="1869854"/>
                </a:lnTo>
                <a:lnTo>
                  <a:pt x="3748155" y="1868903"/>
                </a:lnTo>
                <a:cubicBezTo>
                  <a:pt x="3742091" y="1867062"/>
                  <a:pt x="3736007" y="1865414"/>
                  <a:pt x="3729530" y="1864513"/>
                </a:cubicBezTo>
                <a:cubicBezTo>
                  <a:pt x="3723549" y="1889158"/>
                  <a:pt x="3673453" y="1860919"/>
                  <a:pt x="3680177" y="1881552"/>
                </a:cubicBezTo>
                <a:cubicBezTo>
                  <a:pt x="3643549" y="1880892"/>
                  <a:pt x="3599470" y="1913398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228353" y="1917339"/>
                  <a:pt x="3163854" y="1927961"/>
                  <a:pt x="3123424" y="1952930"/>
                </a:cubicBezTo>
                <a:cubicBezTo>
                  <a:pt x="3067921" y="1955455"/>
                  <a:pt x="3058626" y="1970554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80071" y="1972988"/>
                </a:lnTo>
                <a:lnTo>
                  <a:pt x="2978094" y="1972369"/>
                </a:ln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72808" y="1994277"/>
                  <a:pt x="2869648" y="1993306"/>
                  <a:pt x="2864145" y="1994061"/>
                </a:cubicBezTo>
                <a:cubicBezTo>
                  <a:pt x="2872218" y="1978115"/>
                  <a:pt x="2860603" y="1988862"/>
                  <a:pt x="2843662" y="1992498"/>
                </a:cubicBezTo>
                <a:cubicBezTo>
                  <a:pt x="2852423" y="1968542"/>
                  <a:pt x="2804535" y="1987804"/>
                  <a:pt x="2796128" y="1976403"/>
                </a:cubicBezTo>
                <a:cubicBezTo>
                  <a:pt x="2783487" y="1979614"/>
                  <a:pt x="2770278" y="1982573"/>
                  <a:pt x="2756784" y="1985116"/>
                </a:cubicBezTo>
                <a:lnTo>
                  <a:pt x="2748833" y="1986323"/>
                </a:lnTo>
                <a:cubicBezTo>
                  <a:pt x="2748775" y="1986256"/>
                  <a:pt x="2748719" y="1986188"/>
                  <a:pt x="2748661" y="1986122"/>
                </a:cubicBezTo>
                <a:cubicBezTo>
                  <a:pt x="2746906" y="1985902"/>
                  <a:pt x="2744280" y="1986117"/>
                  <a:pt x="2740251" y="1986946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680597" y="1984996"/>
                </a:lnTo>
                <a:cubicBezTo>
                  <a:pt x="2658416" y="1985461"/>
                  <a:pt x="2612251" y="1988312"/>
                  <a:pt x="2578178" y="1990531"/>
                </a:cubicBezTo>
                <a:cubicBezTo>
                  <a:pt x="2545413" y="1998704"/>
                  <a:pt x="2513846" y="1994934"/>
                  <a:pt x="2476147" y="1998305"/>
                </a:cubicBezTo>
                <a:cubicBezTo>
                  <a:pt x="2437134" y="2013637"/>
                  <a:pt x="2413847" y="1999542"/>
                  <a:pt x="2373568" y="2003219"/>
                </a:cubicBezTo>
                <a:cubicBezTo>
                  <a:pt x="2341422" y="2024631"/>
                  <a:pt x="2342856" y="1992997"/>
                  <a:pt x="2321399" y="1989467"/>
                </a:cubicBezTo>
                <a:lnTo>
                  <a:pt x="2315525" y="1989708"/>
                </a:lnTo>
                <a:lnTo>
                  <a:pt x="2300792" y="1994290"/>
                </a:lnTo>
                <a:lnTo>
                  <a:pt x="2295469" y="1996659"/>
                </a:lnTo>
                <a:cubicBezTo>
                  <a:pt x="2291722" y="1998049"/>
                  <a:pt x="2289127" y="1998665"/>
                  <a:pt x="2287219" y="1998750"/>
                </a:cubicBezTo>
                <a:lnTo>
                  <a:pt x="2286948" y="1998596"/>
                </a:lnTo>
                <a:lnTo>
                  <a:pt x="2243069" y="2015111"/>
                </a:lnTo>
                <a:cubicBezTo>
                  <a:pt x="2229030" y="2006206"/>
                  <a:pt x="2188966" y="2031217"/>
                  <a:pt x="2186609" y="2008263"/>
                </a:cubicBezTo>
                <a:cubicBezTo>
                  <a:pt x="2170936" y="2014251"/>
                  <a:pt x="2164097" y="2025782"/>
                  <a:pt x="2164831" y="2010143"/>
                </a:cubicBezTo>
                <a:cubicBezTo>
                  <a:pt x="2159536" y="2011705"/>
                  <a:pt x="2155830" y="2011340"/>
                  <a:pt x="2152836" y="2010048"/>
                </a:cubicBezTo>
                <a:lnTo>
                  <a:pt x="2117102" y="2023004"/>
                </a:lnTo>
                <a:lnTo>
                  <a:pt x="2111935" y="2023163"/>
                </a:lnTo>
                <a:lnTo>
                  <a:pt x="2089991" y="2034193"/>
                </a:lnTo>
                <a:lnTo>
                  <a:pt x="2058061" y="2047942"/>
                </a:lnTo>
                <a:lnTo>
                  <a:pt x="2055737" y="2047704"/>
                </a:lnTo>
                <a:lnTo>
                  <a:pt x="2042244" y="2055560"/>
                </a:lnTo>
                <a:cubicBezTo>
                  <a:pt x="2038090" y="2058656"/>
                  <a:pt x="1978623" y="2070285"/>
                  <a:pt x="1976224" y="2074257"/>
                </a:cubicBezTo>
                <a:cubicBezTo>
                  <a:pt x="1920172" y="2070662"/>
                  <a:pt x="1933546" y="2089824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402655" y="2224964"/>
                  <a:pt x="1409212" y="2231152"/>
                  <a:pt x="1398481" y="2237074"/>
                </a:cubicBezTo>
                <a:cubicBezTo>
                  <a:pt x="1398456" y="2237082"/>
                  <a:pt x="1398432" y="2237089"/>
                  <a:pt x="1398407" y="2237095"/>
                </a:cubicBezTo>
                <a:lnTo>
                  <a:pt x="1370962" y="2237474"/>
                </a:lnTo>
                <a:lnTo>
                  <a:pt x="1356367" y="2235089"/>
                </a:lnTo>
                <a:cubicBezTo>
                  <a:pt x="1346056" y="2233320"/>
                  <a:pt x="1335986" y="2231930"/>
                  <a:pt x="1324828" y="2231968"/>
                </a:cubicBezTo>
                <a:lnTo>
                  <a:pt x="1297744" y="2235849"/>
                </a:lnTo>
                <a:lnTo>
                  <a:pt x="1286236" y="2233135"/>
                </a:lnTo>
                <a:lnTo>
                  <a:pt x="1283504" y="2233797"/>
                </a:lnTo>
                <a:lnTo>
                  <a:pt x="1279765" y="2229639"/>
                </a:ln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64984" y="2224767"/>
                  <a:pt x="812914" y="2202752"/>
                </a:cubicBezTo>
                <a:cubicBezTo>
                  <a:pt x="809419" y="2205714"/>
                  <a:pt x="805091" y="2207855"/>
                  <a:pt x="800195" y="2209407"/>
                </a:cubicBezTo>
                <a:lnTo>
                  <a:pt x="784978" y="2212360"/>
                </a:lnTo>
                <a:lnTo>
                  <a:pt x="681987" y="2216757"/>
                </a:lnTo>
                <a:lnTo>
                  <a:pt x="669923" y="2211682"/>
                </a:lnTo>
                <a:cubicBezTo>
                  <a:pt x="675432" y="2197125"/>
                  <a:pt x="665394" y="2205767"/>
                  <a:pt x="648680" y="2206229"/>
                </a:cubicBezTo>
                <a:cubicBezTo>
                  <a:pt x="653511" y="2183723"/>
                  <a:pt x="607806" y="2194090"/>
                  <a:pt x="597225" y="2180999"/>
                </a:cubicBezTo>
                <a:cubicBezTo>
                  <a:pt x="584838" y="2181847"/>
                  <a:pt x="571827" y="2182333"/>
                  <a:pt x="558449" y="2182346"/>
                </a:cubicBezTo>
                <a:lnTo>
                  <a:pt x="550517" y="2182060"/>
                </a:lnTo>
                <a:lnTo>
                  <a:pt x="550309" y="2181825"/>
                </a:lnTo>
                <a:cubicBezTo>
                  <a:pt x="548471" y="2181269"/>
                  <a:pt x="545824" y="2180990"/>
                  <a:pt x="541836" y="2181063"/>
                </a:cubicBezTo>
                <a:lnTo>
                  <a:pt x="536057" y="2181537"/>
                </a:lnTo>
                <a:lnTo>
                  <a:pt x="520671" y="2180980"/>
                </a:lnTo>
                <a:lnTo>
                  <a:pt x="515024" y="2179258"/>
                </a:lnTo>
                <a:lnTo>
                  <a:pt x="512278" y="2176369"/>
                </a:lnTo>
                <a:lnTo>
                  <a:pt x="480419" y="2167807"/>
                </a:lnTo>
                <a:cubicBezTo>
                  <a:pt x="458012" y="2174781"/>
                  <a:pt x="449332" y="2162566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36093" y="2150634"/>
                  <a:pt x="209811" y="2132011"/>
                  <a:pt x="169207" y="2128100"/>
                </a:cubicBezTo>
                <a:lnTo>
                  <a:pt x="93149" y="2105324"/>
                </a:lnTo>
                <a:lnTo>
                  <a:pt x="88109" y="2106704"/>
                </a:lnTo>
                <a:cubicBezTo>
                  <a:pt x="84511" y="2107398"/>
                  <a:pt x="81960" y="2107528"/>
                  <a:pt x="80022" y="2107254"/>
                </a:cubicBezTo>
                <a:lnTo>
                  <a:pt x="79717" y="2107046"/>
                </a:lnTo>
                <a:lnTo>
                  <a:pt x="72352" y="2107991"/>
                </a:lnTo>
                <a:cubicBezTo>
                  <a:pt x="60160" y="2110089"/>
                  <a:pt x="48530" y="2112610"/>
                  <a:pt x="37645" y="2115401"/>
                </a:cubicBez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0BFB16-0016-F542-845F-3FA4C659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020" y="196001"/>
            <a:ext cx="9274512" cy="9496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has the greater influence on Crime Rate</a:t>
            </a: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3501A971-CEBD-4E4B-8529-3BB4F4100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0460" y="6189260"/>
            <a:ext cx="7831541" cy="668740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10">
            <a:extLst>
              <a:ext uri="{FF2B5EF4-FFF2-40B4-BE49-F238E27FC236}">
                <a16:creationId xmlns:a16="http://schemas.microsoft.com/office/drawing/2014/main" id="{B03F8C18-3B43-5A4F-8C2D-D9402EE7B8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3166" y="1149136"/>
            <a:ext cx="3710029" cy="1797406"/>
          </a:xfrm>
          <a:prstGeom prst="rect">
            <a:avLst/>
          </a:prstGeom>
        </p:spPr>
      </p:pic>
      <p:pic>
        <p:nvPicPr>
          <p:cNvPr id="1026" name="Picture 2" descr="Property Crime: What You Should Know About Punishments and Statistics in  Houston | Houston DWI Defense &amp; Criminal Defense Matthew Sharp">
            <a:extLst>
              <a:ext uri="{FF2B5EF4-FFF2-40B4-BE49-F238E27FC236}">
                <a16:creationId xmlns:a16="http://schemas.microsoft.com/office/drawing/2014/main" id="{936B2C0B-B8DD-4640-B278-21FD7BF84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66" y="3275013"/>
            <a:ext cx="3219077" cy="247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10A03F7-8C48-A74C-9028-56002A862E2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4494799"/>
              </p:ext>
            </p:extLst>
          </p:nvPr>
        </p:nvGraphicFramePr>
        <p:xfrm>
          <a:off x="4840675" y="1341608"/>
          <a:ext cx="6558159" cy="5096592"/>
        </p:xfrm>
        <a:graphic>
          <a:graphicData uri="http://schemas.openxmlformats.org/drawingml/2006/table">
            <a:tbl>
              <a:tblPr/>
              <a:tblGrid>
                <a:gridCol w="708158">
                  <a:extLst>
                    <a:ext uri="{9D8B030D-6E8A-4147-A177-3AD203B41FA5}">
                      <a16:colId xmlns:a16="http://schemas.microsoft.com/office/drawing/2014/main" val="546780925"/>
                    </a:ext>
                  </a:extLst>
                </a:gridCol>
                <a:gridCol w="708158">
                  <a:extLst>
                    <a:ext uri="{9D8B030D-6E8A-4147-A177-3AD203B41FA5}">
                      <a16:colId xmlns:a16="http://schemas.microsoft.com/office/drawing/2014/main" val="2432429007"/>
                    </a:ext>
                  </a:extLst>
                </a:gridCol>
                <a:gridCol w="708158">
                  <a:extLst>
                    <a:ext uri="{9D8B030D-6E8A-4147-A177-3AD203B41FA5}">
                      <a16:colId xmlns:a16="http://schemas.microsoft.com/office/drawing/2014/main" val="1690865615"/>
                    </a:ext>
                  </a:extLst>
                </a:gridCol>
                <a:gridCol w="708158">
                  <a:extLst>
                    <a:ext uri="{9D8B030D-6E8A-4147-A177-3AD203B41FA5}">
                      <a16:colId xmlns:a16="http://schemas.microsoft.com/office/drawing/2014/main" val="3952638885"/>
                    </a:ext>
                  </a:extLst>
                </a:gridCol>
                <a:gridCol w="708158">
                  <a:extLst>
                    <a:ext uri="{9D8B030D-6E8A-4147-A177-3AD203B41FA5}">
                      <a16:colId xmlns:a16="http://schemas.microsoft.com/office/drawing/2014/main" val="2776098884"/>
                    </a:ext>
                  </a:extLst>
                </a:gridCol>
                <a:gridCol w="892895">
                  <a:extLst>
                    <a:ext uri="{9D8B030D-6E8A-4147-A177-3AD203B41FA5}">
                      <a16:colId xmlns:a16="http://schemas.microsoft.com/office/drawing/2014/main" val="2338316331"/>
                    </a:ext>
                  </a:extLst>
                </a:gridCol>
                <a:gridCol w="708158">
                  <a:extLst>
                    <a:ext uri="{9D8B030D-6E8A-4147-A177-3AD203B41FA5}">
                      <a16:colId xmlns:a16="http://schemas.microsoft.com/office/drawing/2014/main" val="843602865"/>
                    </a:ext>
                  </a:extLst>
                </a:gridCol>
                <a:gridCol w="708158">
                  <a:extLst>
                    <a:ext uri="{9D8B030D-6E8A-4147-A177-3AD203B41FA5}">
                      <a16:colId xmlns:a16="http://schemas.microsoft.com/office/drawing/2014/main" val="3385992222"/>
                    </a:ext>
                  </a:extLst>
                </a:gridCol>
                <a:gridCol w="708158">
                  <a:extLst>
                    <a:ext uri="{9D8B030D-6E8A-4147-A177-3AD203B41FA5}">
                      <a16:colId xmlns:a16="http://schemas.microsoft.com/office/drawing/2014/main" val="971159084"/>
                    </a:ext>
                  </a:extLst>
                </a:gridCol>
              </a:tblGrid>
              <a:tr h="22148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SUMMARY OUTPUT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583467"/>
                  </a:ext>
                </a:extLst>
              </a:tr>
              <a:tr h="2362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297930"/>
                  </a:ext>
                </a:extLst>
              </a:tr>
              <a:tr h="22148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Regression Statistics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097793"/>
                  </a:ext>
                </a:extLst>
              </a:tr>
              <a:tr h="221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0.97187537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4517061"/>
                  </a:ext>
                </a:extLst>
              </a:tr>
              <a:tr h="221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 Square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0.94454173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728864"/>
                  </a:ext>
                </a:extLst>
              </a:tr>
              <a:tr h="38980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Adjusted R Square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0.92374488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070413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 Error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0.04961037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834436"/>
                  </a:ext>
                </a:extLst>
              </a:tr>
              <a:tr h="236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Observations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120878"/>
                  </a:ext>
                </a:extLst>
              </a:tr>
              <a:tr h="221480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858391"/>
                  </a:ext>
                </a:extLst>
              </a:tr>
              <a:tr h="236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ANOVA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770190"/>
                  </a:ext>
                </a:extLst>
              </a:tr>
              <a:tr h="2214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Significance 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245874"/>
                  </a:ext>
                </a:extLst>
              </a:tr>
              <a:tr h="221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Regression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0.33534332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0.11178111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45.4175334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2.27566E-05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0467421"/>
                  </a:ext>
                </a:extLst>
              </a:tr>
              <a:tr h="221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Residual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0.01968951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0.00246119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72882"/>
                  </a:ext>
                </a:extLst>
              </a:tr>
              <a:tr h="236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0.35503283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3096904"/>
                  </a:ext>
                </a:extLst>
              </a:tr>
              <a:tr h="2362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76168"/>
                  </a:ext>
                </a:extLst>
              </a:tr>
              <a:tr h="297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Coefficients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 Error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Stat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P-value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Lower 95%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Upper 95%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Lower 95.0%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Upper 95.0%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818132"/>
                  </a:ext>
                </a:extLst>
              </a:tr>
              <a:tr h="221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Intercept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0.31750322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0.13401877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2.36909517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0.04531037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0.008455383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0.62655106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0.00845538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0.62655106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746204"/>
                  </a:ext>
                </a:extLst>
              </a:tr>
              <a:tr h="22148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Assault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0.00073602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0.00037082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1.98481964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0.08243148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-0.000119102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0.00159113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-0.0001191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0.00159113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836640"/>
                  </a:ext>
                </a:extLst>
              </a:tr>
              <a:tr h="38980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Motor Vehicle Theft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0.00134553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0.00050236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2.67841856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0.02799453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0.000187085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0.00250396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0.00018709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0.00250396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6818625"/>
                  </a:ext>
                </a:extLst>
              </a:tr>
              <a:tr h="31135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Destruction of Property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0.0008537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0.00013844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6.16659384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0.00026906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0.000534459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0.00117294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0.00053446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0.00117294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264107"/>
                  </a:ext>
                </a:extLst>
              </a:tr>
            </a:tbl>
          </a:graphicData>
        </a:graphic>
      </p:graphicFrame>
      <p:pic>
        <p:nvPicPr>
          <p:cNvPr id="12" name="Picture 11" descr="A picture containing car, person, outdoor, transport&#10;&#10;Description automatically generated">
            <a:extLst>
              <a:ext uri="{FF2B5EF4-FFF2-40B4-BE49-F238E27FC236}">
                <a16:creationId xmlns:a16="http://schemas.microsoft.com/office/drawing/2014/main" id="{CC0AF316-8FCC-9B40-A92B-9E9FEF5C5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231688" y="1242462"/>
            <a:ext cx="3303790" cy="183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14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64959E-9DB5-514D-BD84-B35E0E6A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E92AD7-7E1F-3444-BDF5-9F65C85A0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Arima Madurai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From this analysis w</a:t>
            </a:r>
            <a:r>
              <a:rPr lang="en-US" sz="1800" dirty="0">
                <a:effectLst/>
                <a:latin typeface="Arima Madurai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e can agree that assault and Motor vehicle theft have relatively an equal influence on the total crime rate.</a:t>
            </a:r>
          </a:p>
          <a:p>
            <a:r>
              <a:rPr lang="en-US" sz="1800" dirty="0">
                <a:effectLst/>
                <a:latin typeface="Arima Madurai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What we can conclusively determine from our regression model ran in R is that the                      above-mentioned variables destruction of property by far has a greater impact on the total crime rate. As seen below we can determine that with a .8782574 correlation destruction of property is  closer to 1.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2BDE0-A931-9E45-AC89-4BBEFF408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071" y="3907365"/>
            <a:ext cx="51562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16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613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Yu Gothic</vt:lpstr>
      <vt:lpstr>Arial</vt:lpstr>
      <vt:lpstr>Arima Madurai</vt:lpstr>
      <vt:lpstr>Calibri</vt:lpstr>
      <vt:lpstr>Calibri Light</vt:lpstr>
      <vt:lpstr>Consolas</vt:lpstr>
      <vt:lpstr>Office Theme</vt:lpstr>
      <vt:lpstr>PowerPoint Presentation</vt:lpstr>
      <vt:lpstr>Our First Approach</vt:lpstr>
      <vt:lpstr>What Crimes Have Greatest Influence in Crime Rating</vt:lpstr>
      <vt:lpstr>Comparing the Median  </vt:lpstr>
      <vt:lpstr>R Regression Analysis for DoP on Crime Rate</vt:lpstr>
      <vt:lpstr>R Regression Analysis for Assault on Crime Rate</vt:lpstr>
      <vt:lpstr>Destruction Of Property (DoP) on Crime Rate </vt:lpstr>
      <vt:lpstr>PowerPoint Presentation</vt:lpstr>
      <vt:lpstr>What has the greater influence on Crime Rate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Kinnison (US), Brandon K</dc:creator>
  <cp:lastModifiedBy>Aman Shekhar Dongre</cp:lastModifiedBy>
  <cp:revision>28</cp:revision>
  <dcterms:created xsi:type="dcterms:W3CDTF">2023-04-10T17:41:59Z</dcterms:created>
  <dcterms:modified xsi:type="dcterms:W3CDTF">2026-04-20T07:58:04Z</dcterms:modified>
</cp:coreProperties>
</file>